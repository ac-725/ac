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Don't explain the concept yet — let the red and the oak do the work for a beat. Then: 'This palette isn't something I invented. It's your reception.'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compliment — the work is genuinely award-winning. The problem is presentation, not practice. The red card is Kim's own sentence; let him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centre of the pitch. The point to land: the identity was already in the building — I only read it back. Pause on the swatch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real site here if the room has a screen — the language toggle and the sector filter both land better live than on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on the design. Three concrete deliverables and a two-week horizon. Get agreement on who is sending the photography before leaving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C/kiradesign/deck/img/bg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110">
              <a:alpha val="7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31110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6583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884" kern="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2600" spc="884" kern="0" dirty="0">
                <a:solidFill>
                  <a:srgbClr val="E86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2600" spc="884" kern="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77240" y="104182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6" spc="780" kern="0" dirty="0">
                <a:solidFill>
                  <a:srgbClr val="A99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LTD</a:t>
            </a:r>
            <a:endParaRPr lang="en-US" sz="676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40" kern="0" dirty="0">
                <a:solidFill>
                  <a:srgbClr val="C9A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REVAMP  · 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紅牆
</a:t>
            </a:r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Red </a:t>
            </a:r>
            <a:pPr indent="0" marL="0">
              <a:lnSpc>
                <a:spcPts val="5800"/>
              </a:lnSpc>
              <a:buNone/>
            </a:pPr>
            <a:r>
              <a:rPr lang="en-US" sz="5400" i="1" dirty="0">
                <a:solidFill>
                  <a:srgbClr val="F6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" y="4709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homepage built the way KIRA builds a room — from its own materials, its own light, and its own red wall.</a:t>
            </a:r>
            <a:endParaRPr lang="en-US" sz="1500" dirty="0"/>
          </a:p>
        </p:txBody>
      </p:sp>
      <p:pic>
        <p:nvPicPr>
          <p:cNvPr id="10" name="Image 1" descr="/home/user/AC/kiradesign/deck/img/chip-lacquer-r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806440"/>
            <a:ext cx="329184" cy="329184"/>
          </a:xfrm>
          <a:prstGeom prst="rect">
            <a:avLst/>
          </a:prstGeom>
        </p:spPr>
      </p:pic>
      <p:pic>
        <p:nvPicPr>
          <p:cNvPr id="11" name="Image 2" descr="/home/user/AC/kiradesign/deck/img/chip-fluted-oa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806440"/>
            <a:ext cx="329184" cy="329184"/>
          </a:xfrm>
          <a:prstGeom prst="rect">
            <a:avLst/>
          </a:prstGeom>
        </p:spPr>
      </p:pic>
      <p:pic>
        <p:nvPicPr>
          <p:cNvPr id="12" name="Image 3" descr="/home/user/AC/kiradesign/deck/img/chip-walnu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806440"/>
            <a:ext cx="329184" cy="329184"/>
          </a:xfrm>
          <a:prstGeom prst="rect">
            <a:avLst/>
          </a:prstGeom>
        </p:spPr>
      </p:pic>
      <p:pic>
        <p:nvPicPr>
          <p:cNvPr id="13" name="Image 4" descr="/home/user/AC/kiradesign/deck/img/chip-limeston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5806440"/>
            <a:ext cx="329184" cy="329184"/>
          </a:xfrm>
          <a:prstGeom prst="rect">
            <a:avLst/>
          </a:prstGeom>
        </p:spPr>
      </p:pic>
      <p:pic>
        <p:nvPicPr>
          <p:cNvPr id="14" name="Image 5" descr="/home/user/AC/kiradesign/deck/img/chip-champagne-metal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5806440"/>
            <a:ext cx="329184" cy="329184"/>
          </a:xfrm>
          <a:prstGeom prst="rect">
            <a:avLst/>
          </a:prstGeom>
        </p:spPr>
      </p:pic>
      <p:pic>
        <p:nvPicPr>
          <p:cNvPr id="15" name="Image 6" descr="/home/user/AC/kiradesign/deck/img/chip-granit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5806440"/>
            <a:ext cx="329184" cy="32918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Kim Wong, Design Director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A02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926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work is better than the </a:t>
            </a:r>
            <a:pPr indent="0" marL="0">
              <a:buNone/>
            </a:pPr>
            <a:r>
              <a:rPr lang="en-US" sz="3800" i="1" dirty="0">
                <a:solidFill>
                  <a:srgbClr val="A02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website.</a:t>
            </a:r>
            <a:endParaRPr lang="en-US" sz="3800" dirty="0"/>
          </a:p>
        </p:txBody>
      </p:sp>
      <p:pic>
        <p:nvPicPr>
          <p:cNvPr id="4" name="Image 0" descr="/home/user/AC/kiradesign/deck/img/chip-waln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482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011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sit on top of the photography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234086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badges cover the rooms you were awarded for. They shrink the work they're meant to prove.</a:t>
            </a:r>
            <a:endParaRPr lang="en-US" sz="1250" dirty="0"/>
          </a:p>
        </p:txBody>
      </p:sp>
      <p:pic>
        <p:nvPicPr>
          <p:cNvPr id="7" name="Image 1" descr="/home/user/AC/kiradesign/deck/img/chip-limesto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89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are thumbnails, not evidence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340156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developer, area, scope or year. A buyer can't assess capability from a caption in brackets.</a:t>
            </a:r>
            <a:endParaRPr lang="en-US" sz="1250" dirty="0"/>
          </a:p>
        </p:txBody>
      </p:sp>
      <p:pic>
        <p:nvPicPr>
          <p:cNvPr id="10" name="Image 2" descr="/home/user/AC/kiradesign/deck/img/chip-grani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966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1330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best clients are a footnote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34440" y="44622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Henderson, Chinachem, Wheelock, Grand Ming, Poly, K&amp;K — the strongest credential you own, set in small grey text.</a:t>
            </a:r>
            <a:endParaRPr lang="en-US" sz="1250" dirty="0"/>
          </a:p>
        </p:txBody>
      </p:sp>
      <p:pic>
        <p:nvPicPr>
          <p:cNvPr id="13" name="Image 3" descr="/home/user/AC/kiradesign/deck/img/chip-champagne-meta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036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5193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categories don't match the grid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234440" y="552297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Residential / Art Collection read as columns, but the projects beneath them ignore it.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138160" y="2011680"/>
            <a:ext cx="3291840" cy="3246120"/>
          </a:xfrm>
          <a:prstGeom prst="rect">
            <a:avLst/>
          </a:prstGeom>
          <a:solidFill>
            <a:srgbClr val="A02C1C"/>
          </a:solidFill>
          <a:ln/>
        </p:spPr>
      </p:sp>
      <p:sp>
        <p:nvSpPr>
          <p:cNvPr id="17" name="Text 11"/>
          <p:cNvSpPr/>
          <p:nvPr/>
        </p:nvSpPr>
        <p:spPr>
          <a:xfrm>
            <a:off x="8503920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F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OWN WORDS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8503920" y="281635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“Minimal, but it does not bring out the </a:t>
            </a:r>
            <a:pPr indent="0" marL="0">
              <a:lnSpc>
                <a:spcPts val="2700"/>
              </a:lnSpc>
              <a:buNone/>
            </a:pPr>
            <a:r>
              <a:rPr lang="en-US" sz="1900" b="1" i="1" dirty="0">
                <a:solidFill>
                  <a:srgbClr val="F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Design</a:t>
            </a:r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 advantage.”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503920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2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brief. Restraint only reads as confidence when something is being withheld.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C/kiradesign/deck/img/bg-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131110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C9A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THE IDEA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969264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Your palette was already in your </a:t>
            </a:r>
            <a:pPr indent="0" marL="0">
              <a:lnSpc>
                <a:spcPts val="4200"/>
              </a:lnSpc>
              <a:buNone/>
            </a:pPr>
            <a:r>
              <a:rPr lang="en-US" sz="3400" i="1" dirty="0">
                <a:solidFill>
                  <a:srgbClr val="C6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7240" y="2514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lacquer-red wall. Black lettering. Pale oak battens. An orange bench — the same orange as the I in your wordmark. Nothing needed inventing; it needed noticing.</a:t>
            </a:r>
            <a:endParaRPr lang="en-US" sz="1400" dirty="0"/>
          </a:p>
        </p:txBody>
      </p:sp>
      <p:pic>
        <p:nvPicPr>
          <p:cNvPr id="7" name="Image 1" descr="/home/user/AC/kiradesign/deck/img/chip-lacquer-r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40"/>
            <a:ext cx="713232" cy="713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Lacquer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22376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#A02C1C</a:t>
            </a:r>
            <a:endParaRPr lang="en-US" sz="850" dirty="0"/>
          </a:p>
        </p:txBody>
      </p:sp>
      <p:pic>
        <p:nvPicPr>
          <p:cNvPr id="10" name="Image 2" descr="/home/user/AC/kiradesign/deck/img/chip-fluted-oa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3977640"/>
            <a:ext cx="713232" cy="7132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63624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563624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#C9A984</a:t>
            </a:r>
            <a:endParaRPr lang="en-US" sz="850" dirty="0"/>
          </a:p>
        </p:txBody>
      </p:sp>
      <p:pic>
        <p:nvPicPr>
          <p:cNvPr id="13" name="Image 3" descr="/home/user/AC/kiradesign/deck/img/chip-walnu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3977640"/>
            <a:ext cx="713232" cy="7132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04872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Walnut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404872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#4A3324</a:t>
            </a:r>
            <a:endParaRPr lang="en-US" sz="850" dirty="0"/>
          </a:p>
        </p:txBody>
      </p:sp>
      <p:pic>
        <p:nvPicPr>
          <p:cNvPr id="16" name="Image 4" descr="/home/user/AC/kiradesign/deck/img/chip-limeston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977640"/>
            <a:ext cx="713232" cy="7132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46120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Limestone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3246120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#E4DED2</a:t>
            </a:r>
            <a:endParaRPr lang="en-US" sz="850" dirty="0"/>
          </a:p>
        </p:txBody>
      </p:sp>
      <p:pic>
        <p:nvPicPr>
          <p:cNvPr id="19" name="Image 5" descr="/home/user/AC/kiradesign/deck/img/chip-champagne-metal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3977640"/>
            <a:ext cx="713232" cy="7132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087368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Champagne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4087368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#C6A87C</a:t>
            </a:r>
            <a:endParaRPr lang="en-US" sz="850" dirty="0"/>
          </a:p>
        </p:txBody>
      </p:sp>
      <p:pic>
        <p:nvPicPr>
          <p:cNvPr id="22" name="Image 6" descr="/home/user/AC/kiradesign/deck/img/chip-granit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977640"/>
            <a:ext cx="713232" cy="7132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28616" y="4791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Granite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4928616" y="4983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9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#3A3733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777240" y="54864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Almost nobody in Hong Kong luxury interiors uses red.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6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auspicious, and it is unmistakably yours.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A02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THE NEW HOMEPAGE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869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Built, not </a:t>
            </a:r>
            <a:pPr indent="0" marL="0">
              <a:buNone/>
            </a:pPr>
            <a:r>
              <a:rPr lang="en-US" sz="3400" i="1" dirty="0">
                <a:solidFill>
                  <a:srgbClr val="A02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sketched.</a:t>
            </a:r>
            <a:endParaRPr lang="en-US" sz="3400" dirty="0"/>
          </a:p>
        </p:txBody>
      </p:sp>
      <p:pic>
        <p:nvPicPr>
          <p:cNvPr id="4" name="Image 0" descr="/home/user/AC/kiradesign/deck/img/page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7086600" cy="4425696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77240" y="6236208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responsive, bilingual EN / 繁體中文 — not a mockup.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000" dirty="0"/>
          </a:p>
        </p:txBody>
      </p:sp>
      <p:pic>
        <p:nvPicPr>
          <p:cNvPr id="7" name="Image 1" descr="/home/user/AC/kiradesign/deck/img/chip-walnu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488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1664" y="2121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move off the photography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741664" y="23957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typographic honours rail. The rooms are finally uncovered.</a:t>
            </a:r>
            <a:endParaRPr lang="en-US" sz="1100" dirty="0"/>
          </a:p>
        </p:txBody>
      </p:sp>
      <p:pic>
        <p:nvPicPr>
          <p:cNvPr id="10" name="Image 2" descr="/home/user/AC/kiradesign/deck/img/chip-limeston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0083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1664" y="2980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become plates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741664" y="32552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area, scope, year and award on every one.</a:t>
            </a:r>
            <a:endParaRPr lang="en-US" sz="1100" dirty="0"/>
          </a:p>
        </p:txBody>
      </p:sp>
      <p:pic>
        <p:nvPicPr>
          <p:cNvPr id="13" name="Image 3" descr="/home/user/AC/kiradesign/deck/img/chip-grani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86791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41664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clients lead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8741664" y="41148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major Hong Kong developers, given their own section.</a:t>
            </a:r>
            <a:endParaRPr lang="en-US" sz="1100" dirty="0"/>
          </a:p>
        </p:txBody>
      </p:sp>
      <p:pic>
        <p:nvPicPr>
          <p:cNvPr id="16" name="Image 4" descr="/home/user/AC/kiradesign/deck/img/chip-champagne-meta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472744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41664" y="47000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clear routes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741664" y="49743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· Commercial · Hospitality · Art Collection.</a:t>
            </a:r>
            <a:endParaRPr lang="en-US" sz="1100" dirty="0"/>
          </a:p>
        </p:txBody>
      </p:sp>
      <p:pic>
        <p:nvPicPr>
          <p:cNvPr id="19" name="Image 5" descr="/home/user/AC/kiradesign/deck/img/chip-lacquer-r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5586984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741664" y="5559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routes itself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8741664" y="58338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brief and a private home reach different people.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02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C/kiradesign/deck/img/bg-stu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02C1C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20" kern="0" dirty="0">
                <a:solidFill>
                  <a:srgbClr val="F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TO GO LIVE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0607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Three things, and it </a:t>
            </a:r>
            <a:pPr indent="0" marL="0">
              <a:buNone/>
            </a:pPr>
            <a:r>
              <a:rPr lang="en-US" sz="3800" i="1" dirty="0">
                <a:solidFill>
                  <a:srgbClr val="F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ships.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77240" y="2286000"/>
            <a:ext cx="3291840" cy="2286000"/>
          </a:xfrm>
          <a:prstGeom prst="rect">
            <a:avLst/>
          </a:prstGeom>
          <a:solidFill>
            <a:srgbClr val="7A1F10">
              <a:alpha val="7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97280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photography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4198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exists, at whatever quality. Every image slot is already sized and labelled for what it needs.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286000"/>
            <a:ext cx="3291840" cy="2286000"/>
          </a:xfrm>
          <a:prstGeom prst="rect">
            <a:avLst/>
          </a:prstGeom>
          <a:solidFill>
            <a:srgbClr val="7A1F10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800600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hotel projects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34198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locations, years and scope. Hospitality becomes a real fourth route the moment they arrive.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83880" y="2286000"/>
            <a:ext cx="3291840" cy="2286000"/>
          </a:xfrm>
          <a:prstGeom prst="rect">
            <a:avLst/>
          </a:prstGeom>
          <a:solidFill>
            <a:srgbClr val="7A1F10">
              <a:alpha val="7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503920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 as SVG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03920" y="34198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5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wordmark is staying. Real letterforms will tune the spacing of the whole type system.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4892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those land: project pages, the three sector routes, and the Chinese copy read by someone in your office. Two weeks to a site you can send a developer.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7240" y="5897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80" kern="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2000" spc="680" kern="0" dirty="0">
                <a:solidFill>
                  <a:srgbClr val="E86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2000" spc="680" kern="0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77240" y="61928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spc="600" kern="0" dirty="0">
                <a:solidFill>
                  <a:srgbClr val="A99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LTD</a:t>
            </a:r>
            <a:endParaRPr lang="en-US" sz="520" dirty="0"/>
          </a:p>
        </p:txBody>
      </p:sp>
      <p:sp>
        <p:nvSpPr>
          <p:cNvPr id="21" name="Text 18"/>
          <p:cNvSpPr/>
          <p:nvPr/>
        </p:nvSpPr>
        <p:spPr>
          <a:xfrm>
            <a:off x="7680960" y="6053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admin@kiradesign.com.hk   ·   +852 2981 2838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 Design — Website Revamp</dc:title>
  <dc:subject>PptxGenJS Presentation</dc:subject>
  <dc:creator>KIRA Design Ltd</dc:creator>
  <cp:lastModifiedBy>KIRA Design Ltd</cp:lastModifiedBy>
  <cp:revision>1</cp:revision>
  <dcterms:created xsi:type="dcterms:W3CDTF">2026-08-07T16:00:33Z</dcterms:created>
  <dcterms:modified xsi:type="dcterms:W3CDTF">2026-08-07T16:00:33Z</dcterms:modified>
</cp:coreProperties>
</file>